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61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7593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1280160" y="100584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4" name="Shape 2"/>
          <p:cNvSpPr/>
          <p:nvPr/>
        </p:nvSpPr>
        <p:spPr>
          <a:xfrm>
            <a:off x="1280160" y="201168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5" name="Shape 3"/>
          <p:cNvSpPr/>
          <p:nvPr/>
        </p:nvSpPr>
        <p:spPr>
          <a:xfrm>
            <a:off x="1280160" y="301752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6" name="Shape 4"/>
          <p:cNvSpPr/>
          <p:nvPr/>
        </p:nvSpPr>
        <p:spPr>
          <a:xfrm>
            <a:off x="1280160" y="402336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7" name="Shape 5"/>
          <p:cNvSpPr/>
          <p:nvPr/>
        </p:nvSpPr>
        <p:spPr>
          <a:xfrm>
            <a:off x="2103120" y="100584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8" name="Shape 6"/>
          <p:cNvSpPr/>
          <p:nvPr/>
        </p:nvSpPr>
        <p:spPr>
          <a:xfrm>
            <a:off x="2103120" y="201168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9" name="Shape 7"/>
          <p:cNvSpPr/>
          <p:nvPr/>
        </p:nvSpPr>
        <p:spPr>
          <a:xfrm>
            <a:off x="2103120" y="301752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10" name="Shape 8"/>
          <p:cNvSpPr/>
          <p:nvPr/>
        </p:nvSpPr>
        <p:spPr>
          <a:xfrm>
            <a:off x="2103120" y="402336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11" name="Shape 9"/>
          <p:cNvSpPr/>
          <p:nvPr/>
        </p:nvSpPr>
        <p:spPr>
          <a:xfrm>
            <a:off x="2926080" y="100584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12" name="Shape 10"/>
          <p:cNvSpPr/>
          <p:nvPr/>
        </p:nvSpPr>
        <p:spPr>
          <a:xfrm>
            <a:off x="2926080" y="201168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13" name="Shape 11"/>
          <p:cNvSpPr/>
          <p:nvPr/>
        </p:nvSpPr>
        <p:spPr>
          <a:xfrm>
            <a:off x="2926080" y="301752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14" name="Shape 12"/>
          <p:cNvSpPr/>
          <p:nvPr/>
        </p:nvSpPr>
        <p:spPr>
          <a:xfrm>
            <a:off x="2926080" y="402336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15" name="Shape 13"/>
          <p:cNvSpPr/>
          <p:nvPr/>
        </p:nvSpPr>
        <p:spPr>
          <a:xfrm>
            <a:off x="3749040" y="100584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16" name="Shape 14"/>
          <p:cNvSpPr/>
          <p:nvPr/>
        </p:nvSpPr>
        <p:spPr>
          <a:xfrm>
            <a:off x="3749040" y="201168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17" name="Shape 15"/>
          <p:cNvSpPr/>
          <p:nvPr/>
        </p:nvSpPr>
        <p:spPr>
          <a:xfrm>
            <a:off x="3749040" y="301752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18" name="Shape 16"/>
          <p:cNvSpPr/>
          <p:nvPr/>
        </p:nvSpPr>
        <p:spPr>
          <a:xfrm>
            <a:off x="3749040" y="402336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0" y="100584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0" y="201168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0" y="301752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0" y="402336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23" name="Shape 21"/>
          <p:cNvSpPr/>
          <p:nvPr/>
        </p:nvSpPr>
        <p:spPr>
          <a:xfrm>
            <a:off x="5394960" y="100584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24" name="Shape 22"/>
          <p:cNvSpPr/>
          <p:nvPr/>
        </p:nvSpPr>
        <p:spPr>
          <a:xfrm>
            <a:off x="5394960" y="201168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25" name="Shape 23"/>
          <p:cNvSpPr/>
          <p:nvPr/>
        </p:nvSpPr>
        <p:spPr>
          <a:xfrm>
            <a:off x="5394960" y="301752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26" name="Shape 24"/>
          <p:cNvSpPr/>
          <p:nvPr/>
        </p:nvSpPr>
        <p:spPr>
          <a:xfrm>
            <a:off x="5394960" y="402336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27" name="Shape 25"/>
          <p:cNvSpPr/>
          <p:nvPr/>
        </p:nvSpPr>
        <p:spPr>
          <a:xfrm>
            <a:off x="6217920" y="100584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28" name="Shape 26"/>
          <p:cNvSpPr/>
          <p:nvPr/>
        </p:nvSpPr>
        <p:spPr>
          <a:xfrm>
            <a:off x="6217920" y="201168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29" name="Shape 27"/>
          <p:cNvSpPr/>
          <p:nvPr/>
        </p:nvSpPr>
        <p:spPr>
          <a:xfrm>
            <a:off x="6217920" y="301752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30" name="Shape 28"/>
          <p:cNvSpPr/>
          <p:nvPr/>
        </p:nvSpPr>
        <p:spPr>
          <a:xfrm>
            <a:off x="6217920" y="402336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31" name="Shape 29"/>
          <p:cNvSpPr/>
          <p:nvPr/>
        </p:nvSpPr>
        <p:spPr>
          <a:xfrm>
            <a:off x="7040880" y="100584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32" name="Shape 30"/>
          <p:cNvSpPr/>
          <p:nvPr/>
        </p:nvSpPr>
        <p:spPr>
          <a:xfrm>
            <a:off x="7040880" y="201168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33" name="Shape 31"/>
          <p:cNvSpPr/>
          <p:nvPr/>
        </p:nvSpPr>
        <p:spPr>
          <a:xfrm>
            <a:off x="7040880" y="301752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34" name="Shape 32"/>
          <p:cNvSpPr/>
          <p:nvPr/>
        </p:nvSpPr>
        <p:spPr>
          <a:xfrm>
            <a:off x="7040880" y="402336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35" name="Shape 33"/>
          <p:cNvSpPr/>
          <p:nvPr/>
        </p:nvSpPr>
        <p:spPr>
          <a:xfrm>
            <a:off x="7863840" y="100584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36" name="Shape 34"/>
          <p:cNvSpPr/>
          <p:nvPr/>
        </p:nvSpPr>
        <p:spPr>
          <a:xfrm>
            <a:off x="7863840" y="201168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37" name="Shape 35"/>
          <p:cNvSpPr/>
          <p:nvPr/>
        </p:nvSpPr>
        <p:spPr>
          <a:xfrm>
            <a:off x="7863840" y="301752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38" name="Shape 36"/>
          <p:cNvSpPr/>
          <p:nvPr/>
        </p:nvSpPr>
        <p:spPr>
          <a:xfrm>
            <a:off x="7863840" y="402336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39" name="Text 37"/>
          <p:cNvSpPr/>
          <p:nvPr/>
        </p:nvSpPr>
        <p:spPr>
          <a:xfrm>
            <a:off x="594360" y="73152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kern="0" spc="6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MyOS</a:t>
            </a:r>
            <a:endParaRPr lang="en-US" sz="8000" dirty="0"/>
          </a:p>
        </p:txBody>
      </p:sp>
      <p:sp>
        <p:nvSpPr>
          <p:cNvPr id="40" name="Text 38"/>
          <p:cNvSpPr/>
          <p:nvPr/>
        </p:nvSpPr>
        <p:spPr>
          <a:xfrm>
            <a:off x="594360" y="192024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Bare-Metal Operating System Kernel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594360" y="23774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x86 Architecture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594360" y="2926080"/>
            <a:ext cx="41148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3" name="Text 41"/>
          <p:cNvSpPr/>
          <p:nvPr/>
        </p:nvSpPr>
        <p:spPr>
          <a:xfrm>
            <a:off x="594360" y="31089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 Ndoka  &amp;  Promise Harare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ELE-OPS-411  |  MUBAS  |  2026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035040" y="365760"/>
            <a:ext cx="2834640" cy="2011680"/>
          </a:xfrm>
          <a:prstGeom prst="rect">
            <a:avLst/>
          </a:prstGeom>
          <a:solidFill>
            <a:srgbClr val="243447"/>
          </a:solidFill>
          <a:ln w="9525">
            <a:solidFill>
              <a:srgbClr val="1E3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4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411480"/>
            <a:ext cx="2743200" cy="1920240"/>
          </a:xfrm>
          <a:prstGeom prst="rect">
            <a:avLst/>
          </a:prstGeom>
        </p:spPr>
      </p:pic>
      <p:sp>
        <p:nvSpPr>
          <p:cNvPr id="46" name="Shape 43"/>
          <p:cNvSpPr/>
          <p:nvPr/>
        </p:nvSpPr>
        <p:spPr>
          <a:xfrm>
            <a:off x="6035040" y="2514600"/>
            <a:ext cx="2834640" cy="2286000"/>
          </a:xfrm>
          <a:prstGeom prst="rect">
            <a:avLst/>
          </a:prstGeom>
          <a:solidFill>
            <a:srgbClr val="243447"/>
          </a:solidFill>
          <a:ln w="9525">
            <a:solidFill>
              <a:srgbClr val="1E3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4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2560320"/>
            <a:ext cx="2743200" cy="2194560"/>
          </a:xfrm>
          <a:prstGeom prst="rect">
            <a:avLst/>
          </a:prstGeom>
        </p:spPr>
      </p:pic>
      <p:sp>
        <p:nvSpPr>
          <p:cNvPr id="48" name="Text 44"/>
          <p:cNvSpPr/>
          <p:nvPr/>
        </p:nvSpPr>
        <p:spPr>
          <a:xfrm>
            <a:off x="59436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ELE-OPS-411 Class Project  |  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60120"/>
            <a:ext cx="1920240" cy="1371600"/>
          </a:xfrm>
          <a:prstGeom prst="rect">
            <a:avLst/>
          </a:prstGeom>
          <a:solidFill>
            <a:srgbClr val="1A2E42"/>
          </a:solidFill>
          <a:ln w="9525">
            <a:solidFill>
              <a:srgbClr val="1E3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1920240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972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~2,400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74320" y="17190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97510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+ Assembly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50592" y="960120"/>
            <a:ext cx="1920240" cy="1371600"/>
          </a:xfrm>
          <a:prstGeom prst="rect">
            <a:avLst/>
          </a:prstGeom>
          <a:solidFill>
            <a:srgbClr val="1A2E42"/>
          </a:solidFill>
          <a:ln w="9525">
            <a:solidFill>
              <a:srgbClr val="1E3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50592" y="960120"/>
            <a:ext cx="1920240" cy="73152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11" name="Text 9"/>
          <p:cNvSpPr/>
          <p:nvPr/>
        </p:nvSpPr>
        <p:spPr>
          <a:xfrm>
            <a:off x="2450592" y="10972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450592" y="17190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50592" y="197510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5 subsystems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26864" y="960120"/>
            <a:ext cx="1920240" cy="1371600"/>
          </a:xfrm>
          <a:prstGeom prst="rect">
            <a:avLst/>
          </a:prstGeom>
          <a:solidFill>
            <a:srgbClr val="1A2E42"/>
          </a:solidFill>
          <a:ln w="9525">
            <a:solidFill>
              <a:srgbClr val="1E3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26864" y="960120"/>
            <a:ext cx="1920240" cy="73152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16" name="Text 14"/>
          <p:cNvSpPr/>
          <p:nvPr/>
        </p:nvSpPr>
        <p:spPr>
          <a:xfrm>
            <a:off x="4626864" y="10972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256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626864" y="17190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26864" y="197510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IDT entries handled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03136" y="960120"/>
            <a:ext cx="1920240" cy="1371600"/>
          </a:xfrm>
          <a:prstGeom prst="rect">
            <a:avLst/>
          </a:prstGeom>
          <a:solidFill>
            <a:srgbClr val="1A2E42"/>
          </a:solidFill>
          <a:ln w="9525">
            <a:solidFill>
              <a:srgbClr val="1E3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03136" y="960120"/>
            <a:ext cx="1920240" cy="73152"/>
          </a:xfrm>
          <a:prstGeom prst="rect">
            <a:avLst/>
          </a:prstGeom>
          <a:solidFill>
            <a:srgbClr val="FF9100"/>
          </a:solidFill>
          <a:ln/>
        </p:spPr>
      </p:sp>
      <p:sp>
        <p:nvSpPr>
          <p:cNvPr id="21" name="Text 19"/>
          <p:cNvSpPr/>
          <p:nvPr/>
        </p:nvSpPr>
        <p:spPr>
          <a:xfrm>
            <a:off x="6803136" y="10972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9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803136" y="17190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Commands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03136" y="197510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commands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2514600"/>
            <a:ext cx="5120640" cy="2286000"/>
          </a:xfrm>
          <a:prstGeom prst="rect">
            <a:avLst/>
          </a:prstGeom>
          <a:solidFill>
            <a:srgbClr val="1A2E42"/>
          </a:solidFill>
          <a:ln w="9525">
            <a:solidFill>
              <a:srgbClr val="1E3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11480" y="2651760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MyOS?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11480" y="3063240"/>
            <a:ext cx="48463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Bare-metal kernel written in C + x86 Assembly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 via GRUB using the Multiboot specification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QEMU virtual hardware (x86 32-bit protected mode)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 library — all utilities written from scratch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2 beginners, from zero to working OS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577840" y="2514600"/>
            <a:ext cx="3291840" cy="2286000"/>
          </a:xfrm>
          <a:prstGeom prst="rect">
            <a:avLst/>
          </a:prstGeom>
          <a:solidFill>
            <a:srgbClr val="1A2E42"/>
          </a:solidFill>
          <a:ln w="9525">
            <a:solidFill>
              <a:srgbClr val="1E3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715000" y="265176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715000" y="3127248"/>
            <a:ext cx="109728" cy="10972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30" name="Text 28"/>
          <p:cNvSpPr/>
          <p:nvPr/>
        </p:nvSpPr>
        <p:spPr>
          <a:xfrm>
            <a:off x="5897880" y="306324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-m32 </a:t>
            </a: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223760" y="3127248"/>
            <a:ext cx="109728" cy="10972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32" name="Text 30"/>
          <p:cNvSpPr/>
          <p:nvPr/>
        </p:nvSpPr>
        <p:spPr>
          <a:xfrm>
            <a:off x="7406640" y="306324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NASM </a:t>
            </a: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715000" y="3630168"/>
            <a:ext cx="109728" cy="10972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34" name="Text 32"/>
          <p:cNvSpPr/>
          <p:nvPr/>
        </p:nvSpPr>
        <p:spPr>
          <a:xfrm>
            <a:off x="5897880" y="356616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GNU ld </a:t>
            </a: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223760" y="3630168"/>
            <a:ext cx="109728" cy="10972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36" name="Text 34"/>
          <p:cNvSpPr/>
          <p:nvPr/>
        </p:nvSpPr>
        <p:spPr>
          <a:xfrm>
            <a:off x="7406640" y="356616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QEMU </a:t>
            </a: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HW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715000" y="4133088"/>
            <a:ext cx="109728" cy="10972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38" name="Text 36"/>
          <p:cNvSpPr/>
          <p:nvPr/>
        </p:nvSpPr>
        <p:spPr>
          <a:xfrm>
            <a:off x="5897880" y="4069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GRUB </a:t>
            </a: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Bootloader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223760" y="4133088"/>
            <a:ext cx="109728" cy="10972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40" name="Text 38"/>
          <p:cNvSpPr/>
          <p:nvPr/>
        </p:nvSpPr>
        <p:spPr>
          <a:xfrm>
            <a:off x="7406640" y="4069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Git/GitHub </a:t>
            </a: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Ctrl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60120"/>
            <a:ext cx="5486400" cy="475488"/>
          </a:xfrm>
          <a:prstGeom prst="rect">
            <a:avLst/>
          </a:prstGeom>
          <a:solidFill>
            <a:srgbClr val="1A2E42"/>
          </a:solidFill>
          <a:ln w="19050">
            <a:solidFill>
              <a:srgbClr val="FF91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182880" cy="475488"/>
          </a:xfrm>
          <a:prstGeom prst="rect">
            <a:avLst/>
          </a:prstGeom>
          <a:solidFill>
            <a:srgbClr val="FF910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96696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Shell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207008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shell.c — 6 built-in commands, keyboard read-line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60320" y="1435608"/>
            <a:ext cx="3657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</a:rPr>
              <a:t>▼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1508760"/>
            <a:ext cx="5486400" cy="475488"/>
          </a:xfrm>
          <a:prstGeom prst="rect">
            <a:avLst/>
          </a:prstGeom>
          <a:solidFill>
            <a:srgbClr val="1A2E42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508760"/>
            <a:ext cx="182880" cy="4754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545336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Calls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1755648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syscall.c — int 0x80 (write, spawn, exit)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60320" y="1984248"/>
            <a:ext cx="3657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</a:rPr>
              <a:t>▼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5760" y="2057400"/>
            <a:ext cx="5486400" cy="475488"/>
          </a:xfrm>
          <a:prstGeom prst="rect">
            <a:avLst/>
          </a:prstGeom>
          <a:solidFill>
            <a:srgbClr val="1A2E42"/>
          </a:solidFill>
          <a:ln w="19050">
            <a:solidFill>
              <a:srgbClr val="00A8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057400"/>
            <a:ext cx="182880" cy="475488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093976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Scheduler + PCB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2304288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process.c, switch.asm — round-robin, do_switch()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60320" y="2532888"/>
            <a:ext cx="3657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</a:rPr>
              <a:t>▼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5760" y="2606040"/>
            <a:ext cx="5486400" cy="475488"/>
          </a:xfrm>
          <a:prstGeom prst="rect">
            <a:avLst/>
          </a:prstGeom>
          <a:solidFill>
            <a:srgbClr val="1A2E42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606040"/>
            <a:ext cx="182880" cy="475488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2642616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Interrupt System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" y="2852928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idt.c, isr_stub.asm, pic.c, timer.c, keyboard.c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60320" y="3081528"/>
            <a:ext cx="3657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</a:rPr>
              <a:t>▼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65760" y="3154680"/>
            <a:ext cx="5486400" cy="475488"/>
          </a:xfrm>
          <a:prstGeom prst="rect">
            <a:avLst/>
          </a:prstGeom>
          <a:solidFill>
            <a:srgbClr val="1A2E42"/>
          </a:solidFill>
          <a:ln w="19050">
            <a:solidFill>
              <a:srgbClr val="6C8E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154680"/>
            <a:ext cx="182880" cy="475488"/>
          </a:xfrm>
          <a:prstGeom prst="rect">
            <a:avLst/>
          </a:prstGeom>
          <a:solidFill>
            <a:srgbClr val="6C8EBF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191256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8E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GDT + Memory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5800" y="3401568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gdt.c — flat 32-bit protected mode, 3 descriptors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560320" y="3630168"/>
            <a:ext cx="3657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</a:rPr>
              <a:t>▼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65760" y="3703320"/>
            <a:ext cx="5486400" cy="475488"/>
          </a:xfrm>
          <a:prstGeom prst="rect">
            <a:avLst/>
          </a:prstGeom>
          <a:solidFill>
            <a:srgbClr val="1A2E42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703320"/>
            <a:ext cx="182880" cy="47548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3739896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 + VGA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5800" y="3950208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boot.asm (Multiboot), vga.c (0xB8000 framebuffer)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02203" y="813816"/>
            <a:ext cx="2651760" cy="3931920"/>
          </a:xfrm>
          <a:prstGeom prst="rect">
            <a:avLst/>
          </a:prstGeom>
          <a:solidFill>
            <a:srgbClr val="243447"/>
          </a:solidFill>
          <a:ln w="9525">
            <a:solidFill>
              <a:srgbClr val="1E3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309360" y="10058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309360" y="1417320"/>
            <a:ext cx="2377440" cy="530352"/>
          </a:xfrm>
          <a:prstGeom prst="rect">
            <a:avLst/>
          </a:prstGeom>
          <a:solidFill>
            <a:srgbClr val="1A2E42"/>
          </a:solidFill>
          <a:ln w="6350">
            <a:solidFill>
              <a:srgbClr val="24344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1453896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libc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00800" y="1673352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from scratch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00800" y="233172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332220" y="2185416"/>
            <a:ext cx="2377440" cy="530352"/>
          </a:xfrm>
          <a:prstGeom prst="rect">
            <a:avLst/>
          </a:prstGeom>
          <a:solidFill>
            <a:srgbClr val="1A2E42"/>
          </a:solidFill>
          <a:ln w="6350">
            <a:solidFill>
              <a:srgbClr val="24344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40793" y="2253424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Flat model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332220" y="2450592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Base=0, Limit=4GB GDT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326505" y="2863215"/>
            <a:ext cx="2377440" cy="530352"/>
          </a:xfrm>
          <a:prstGeom prst="rect">
            <a:avLst/>
          </a:prstGeom>
          <a:solidFill>
            <a:srgbClr val="1A2E42"/>
          </a:solidFill>
          <a:ln w="6350">
            <a:solidFill>
              <a:srgbClr val="24344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26505" y="2935224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0x80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309360" y="3126105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Linux-style syscall ABI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339363" y="3536442"/>
            <a:ext cx="2377440" cy="530352"/>
          </a:xfrm>
          <a:prstGeom prst="rect">
            <a:avLst/>
          </a:prstGeom>
          <a:solidFill>
            <a:srgbClr val="1A2E42"/>
          </a:solidFill>
          <a:ln w="6350">
            <a:solidFill>
              <a:srgbClr val="24344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40793" y="3614166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BLOCKED state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293643" y="3822192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blocking keyboard I/O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&amp; 2 — Boot, Console &amp; Interrupts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0"/>
            <a:ext cx="3749040" cy="1920240"/>
          </a:xfrm>
          <a:prstGeom prst="rect">
            <a:avLst/>
          </a:prstGeom>
          <a:solidFill>
            <a:srgbClr val="1A2E42"/>
          </a:solidFill>
          <a:ln w="9525">
            <a:solidFill>
              <a:srgbClr val="1E3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1280160" cy="256032"/>
          </a:xfrm>
          <a:prstGeom prst="roundRect">
            <a:avLst>
              <a:gd name="adj" fmla="val 21429"/>
            </a:avLst>
          </a:prstGeom>
          <a:solidFill>
            <a:srgbClr val="00A8CC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PHASE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&amp; VGA Console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1627632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Multiboot header — GRUB magic 0x1BADB002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loads at 0x100000 (1 MB physical)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VGA framebuffer at 0xB8000 — 80×25 chars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linker.ld + freestanding Makefile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926080"/>
            <a:ext cx="3749040" cy="1920240"/>
          </a:xfrm>
          <a:prstGeom prst="rect">
            <a:avLst/>
          </a:prstGeom>
          <a:solidFill>
            <a:srgbClr val="1A2E42"/>
          </a:solidFill>
          <a:ln w="9525">
            <a:solidFill>
              <a:srgbClr val="1E3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926080"/>
            <a:ext cx="1280160" cy="256032"/>
          </a:xfrm>
          <a:prstGeom prst="roundRect">
            <a:avLst>
              <a:gd name="adj" fmla="val 21429"/>
            </a:avLst>
          </a:prstGeom>
          <a:solidFill>
            <a:srgbClr val="00A8CC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29260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PHASE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32461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Interrupts — GDT, IDT, PIC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11480" y="3639312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GDT: 3 descriptors — null, code, data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IDT: 256 gates — exceptions + IRQ handlers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 remapped: IRQs 0-15 → vectors 32-47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100 Hz + PS/2 keyboard (ring buffer)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51960" y="914400"/>
            <a:ext cx="4617720" cy="1938528"/>
          </a:xfrm>
          <a:prstGeom prst="rect">
            <a:avLst/>
          </a:prstGeom>
          <a:solidFill>
            <a:srgbClr val="243447"/>
          </a:solidFill>
          <a:ln w="9525">
            <a:solidFill>
              <a:srgbClr val="1E3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960120"/>
            <a:ext cx="4526280" cy="1847088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4251960" y="2944368"/>
            <a:ext cx="4617720" cy="1920240"/>
          </a:xfrm>
          <a:prstGeom prst="rect">
            <a:avLst/>
          </a:prstGeom>
          <a:solidFill>
            <a:srgbClr val="243447"/>
          </a:solidFill>
          <a:ln w="9525">
            <a:solidFill>
              <a:srgbClr val="1E3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2990088"/>
            <a:ext cx="4526280" cy="18288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251960" y="2816352"/>
            <a:ext cx="4617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1: GRUB boot menu detecting MyOS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4251960" y="4828032"/>
            <a:ext cx="4617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2: Phase 2 — timer dots + keyboard echo confirmed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Preemptive Round-Robin Scheduler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0"/>
            <a:ext cx="4114800" cy="1645920"/>
          </a:xfrm>
          <a:prstGeom prst="rect">
            <a:avLst/>
          </a:prstGeom>
          <a:solidFill>
            <a:srgbClr val="1A2E42"/>
          </a:solidFill>
          <a:ln w="9525">
            <a:solidFill>
              <a:srgbClr val="1E3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9601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Switch — do_switch()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32588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ebp, ebx, esi, edi  ; save callee regs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CDD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  [old_esp], esp       ; save current ESP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  esp, new_esp         ; load new stack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CDD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  edi, esi, ebx, ebp  ; restore new regs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CDD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                       ; jump to new task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2697480"/>
            <a:ext cx="4114800" cy="1463040"/>
          </a:xfrm>
          <a:prstGeom prst="rect">
            <a:avLst/>
          </a:prstGeom>
          <a:solidFill>
            <a:srgbClr val="1A2E42"/>
          </a:solidFill>
          <a:ln w="9525">
            <a:solidFill>
              <a:srgbClr val="1E3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27432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Control Block (PCB)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310896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pid      uint32_t     Process 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    enum         UNUSED/READY/RUNNING/BLOCKED/DEAD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CDD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      uint32_t     Saved stack pointer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    uint8_t[]    Private 8 KB kernel stack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CDD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    fn ptr       Task entry function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4251960"/>
            <a:ext cx="4114800" cy="685800"/>
          </a:xfrm>
          <a:prstGeom prst="rect">
            <a:avLst/>
          </a:prstGeom>
          <a:solidFill>
            <a:srgbClr val="1A2E42"/>
          </a:solidFill>
          <a:ln w="9525">
            <a:solidFill>
              <a:srgbClr val="1E3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4279392"/>
            <a:ext cx="3840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fix: </a:t>
            </a:r>
            <a:r>
              <a:rPr lang="en-US" sz="11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EOI BEFORE</a:t>
            </a:r>
            <a:r>
              <a:rPr lang="en-US" sz="11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calling schedule() — PIC must be re-armed before context switch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914400"/>
            <a:ext cx="4251960" cy="2926080"/>
          </a:xfrm>
          <a:prstGeom prst="rect">
            <a:avLst/>
          </a:prstGeom>
          <a:solidFill>
            <a:srgbClr val="243447"/>
          </a:solidFill>
          <a:ln w="9525">
            <a:solidFill>
              <a:srgbClr val="1E3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960120"/>
            <a:ext cx="4160520" cy="28346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617720" y="3794760"/>
            <a:ext cx="4251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3: Task A and Task B alternating — genuine preemptive multitasking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709160" y="4114800"/>
            <a:ext cx="713232" cy="749808"/>
          </a:xfrm>
          <a:prstGeom prst="rect">
            <a:avLst/>
          </a:prstGeom>
          <a:solidFill>
            <a:srgbClr val="1A2E42"/>
          </a:solidFill>
          <a:ln w="9525">
            <a:solidFill>
              <a:srgbClr val="1E3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709160" y="4133088"/>
            <a:ext cx="713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709160" y="4352544"/>
            <a:ext cx="7132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IRQ fires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422392" y="4407408"/>
            <a:ext cx="91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D4FF"/>
                </a:solidFill>
              </a:rPr>
              <a:t>→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513832" y="4114800"/>
            <a:ext cx="713232" cy="749808"/>
          </a:xfrm>
          <a:prstGeom prst="rect">
            <a:avLst/>
          </a:prstGeom>
          <a:solidFill>
            <a:srgbClr val="1A2E42"/>
          </a:solidFill>
          <a:ln w="9525">
            <a:solidFill>
              <a:srgbClr val="1E3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513832" y="4133088"/>
            <a:ext cx="713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513832" y="4352544"/>
            <a:ext cx="7132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EOI to PIC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227064" y="4407408"/>
            <a:ext cx="91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D4FF"/>
                </a:solidFill>
              </a:rPr>
              <a:t>→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318504" y="4114800"/>
            <a:ext cx="713232" cy="749808"/>
          </a:xfrm>
          <a:prstGeom prst="rect">
            <a:avLst/>
          </a:prstGeom>
          <a:solidFill>
            <a:srgbClr val="1A2E42"/>
          </a:solidFill>
          <a:ln w="9525">
            <a:solidFill>
              <a:srgbClr val="1E3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318504" y="4133088"/>
            <a:ext cx="713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318504" y="4352544"/>
            <a:ext cx="7132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task READY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7031736" y="4407408"/>
            <a:ext cx="91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D4FF"/>
                </a:solidFill>
              </a:rPr>
              <a:t>→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7123176" y="4114800"/>
            <a:ext cx="713232" cy="749808"/>
          </a:xfrm>
          <a:prstGeom prst="rect">
            <a:avLst/>
          </a:prstGeom>
          <a:solidFill>
            <a:srgbClr val="1A2E42"/>
          </a:solidFill>
          <a:ln w="9525">
            <a:solidFill>
              <a:srgbClr val="1E3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7123176" y="4133088"/>
            <a:ext cx="713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123176" y="4352544"/>
            <a:ext cx="7132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next READY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7836408" y="4407408"/>
            <a:ext cx="91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D4FF"/>
                </a:solidFill>
              </a:rPr>
              <a:t>→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7927848" y="4114800"/>
            <a:ext cx="713232" cy="749808"/>
          </a:xfrm>
          <a:prstGeom prst="rect">
            <a:avLst/>
          </a:prstGeom>
          <a:solidFill>
            <a:srgbClr val="1A2E42"/>
          </a:solidFill>
          <a:ln w="9525">
            <a:solidFill>
              <a:srgbClr val="1E3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7927848" y="4133088"/>
            <a:ext cx="713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7927848" y="4352544"/>
            <a:ext cx="7132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do_switch()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System Calls &amp; Interactive Shell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0"/>
            <a:ext cx="1325880" cy="1645920"/>
          </a:xfrm>
          <a:prstGeom prst="rect">
            <a:avLst/>
          </a:prstGeom>
          <a:solidFill>
            <a:srgbClr val="1A2E42"/>
          </a:solidFill>
          <a:ln w="9525">
            <a:solidFill>
              <a:srgbClr val="1E3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1325880" cy="640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0584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SYS_WRITE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28016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EAX=1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572768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EBX = char*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string to VGA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737360" y="914400"/>
            <a:ext cx="1325880" cy="1645920"/>
          </a:xfrm>
          <a:prstGeom prst="rect">
            <a:avLst/>
          </a:prstGeom>
          <a:solidFill>
            <a:srgbClr val="1A2E42"/>
          </a:solidFill>
          <a:ln w="9525">
            <a:solidFill>
              <a:srgbClr val="1E3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737360" y="914400"/>
            <a:ext cx="1325880" cy="64008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11" name="Text 9"/>
          <p:cNvSpPr/>
          <p:nvPr/>
        </p:nvSpPr>
        <p:spPr>
          <a:xfrm>
            <a:off x="1737360" y="100584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SYS_SPAWN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128016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EAX=2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83080" y="1572768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EBX = fn ptr, ECX = name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kernel task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0" y="914400"/>
            <a:ext cx="1325880" cy="1645920"/>
          </a:xfrm>
          <a:prstGeom prst="rect">
            <a:avLst/>
          </a:prstGeom>
          <a:solidFill>
            <a:srgbClr val="1A2E42"/>
          </a:solidFill>
          <a:ln w="9525">
            <a:solidFill>
              <a:srgbClr val="1E3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914400"/>
            <a:ext cx="1325880" cy="64008"/>
          </a:xfrm>
          <a:prstGeom prst="rect">
            <a:avLst/>
          </a:prstGeom>
          <a:solidFill>
            <a:srgbClr val="FF9100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0" y="100584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9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SYS_EXIT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0" y="128016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EAX=3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46120" y="1572768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Terminate current task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PCB as DEAD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697480"/>
            <a:ext cx="4297680" cy="868680"/>
          </a:xfrm>
          <a:prstGeom prst="rect">
            <a:avLst/>
          </a:prstGeom>
          <a:solidFill>
            <a:srgbClr val="1A2E42"/>
          </a:solidFill>
          <a:ln w="9525">
            <a:solidFill>
              <a:srgbClr val="1E3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11480" y="27432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 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645920" y="27432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DD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 eax, 1  |  mov ebx, msg  |  int 0x80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303580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IDT[0x80] → isr128 stub → isr_common → syscall_handler(regs) → dispatch on EAX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3675888"/>
            <a:ext cx="4297680" cy="1261872"/>
          </a:xfrm>
          <a:prstGeom prst="rect">
            <a:avLst/>
          </a:prstGeom>
          <a:solidFill>
            <a:srgbClr val="1A2E42"/>
          </a:solidFill>
          <a:ln w="9525">
            <a:solidFill>
              <a:srgbClr val="1E3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11480" y="372160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Built-in Commands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11480" y="4123944"/>
            <a:ext cx="109728" cy="10972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6" name="Text 24"/>
          <p:cNvSpPr/>
          <p:nvPr/>
        </p:nvSpPr>
        <p:spPr>
          <a:xfrm>
            <a:off x="576072" y="406908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help    </a:t>
            </a:r>
            <a:r>
              <a:rPr lang="en-US" sz="11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commands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514600" y="4123944"/>
            <a:ext cx="109728" cy="10972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8" name="Text 26"/>
          <p:cNvSpPr/>
          <p:nvPr/>
        </p:nvSpPr>
        <p:spPr>
          <a:xfrm>
            <a:off x="2679192" y="406908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   </a:t>
            </a:r>
            <a:r>
              <a:rPr lang="en-US" sz="11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VGA screen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1480" y="4398264"/>
            <a:ext cx="109728" cy="10972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30" name="Text 28"/>
          <p:cNvSpPr/>
          <p:nvPr/>
        </p:nvSpPr>
        <p:spPr>
          <a:xfrm>
            <a:off x="576072" y="434340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   </a:t>
            </a:r>
            <a:r>
              <a:rPr lang="en-US" sz="11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PCB table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514600" y="4398264"/>
            <a:ext cx="109728" cy="10972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32" name="Text 30"/>
          <p:cNvSpPr/>
          <p:nvPr/>
        </p:nvSpPr>
        <p:spPr>
          <a:xfrm>
            <a:off x="2679192" y="434340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spawn   </a:t>
            </a:r>
            <a:r>
              <a:rPr lang="en-US" sz="11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SYS_SPAWN a task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11480" y="4672584"/>
            <a:ext cx="109728" cy="10972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34" name="Text 32"/>
          <p:cNvSpPr/>
          <p:nvPr/>
        </p:nvSpPr>
        <p:spPr>
          <a:xfrm>
            <a:off x="576072" y="461772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about   </a:t>
            </a:r>
            <a:r>
              <a:rPr lang="en-US" sz="11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info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514600" y="4672584"/>
            <a:ext cx="109728" cy="10972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36" name="Text 34"/>
          <p:cNvSpPr/>
          <p:nvPr/>
        </p:nvSpPr>
        <p:spPr>
          <a:xfrm>
            <a:off x="2679192" y="461772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    </a:t>
            </a:r>
            <a:r>
              <a:rPr lang="en-US" sz="11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SYS_EXIT shell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00600" y="914400"/>
            <a:ext cx="4069080" cy="2011680"/>
          </a:xfrm>
          <a:prstGeom prst="rect">
            <a:avLst/>
          </a:prstGeom>
          <a:solidFill>
            <a:srgbClr val="243447"/>
          </a:solidFill>
          <a:ln w="9525">
            <a:solidFill>
              <a:srgbClr val="1E3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3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960120"/>
            <a:ext cx="3977640" cy="1920240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4800600" y="2907792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4: 'help' command output + working shell prompt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4800600" y="3154680"/>
            <a:ext cx="4069080" cy="1783080"/>
          </a:xfrm>
          <a:prstGeom prst="rect">
            <a:avLst/>
          </a:prstGeom>
          <a:solidFill>
            <a:srgbClr val="243447"/>
          </a:solidFill>
          <a:ln w="9525">
            <a:solidFill>
              <a:srgbClr val="1E3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4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200400"/>
            <a:ext cx="3977640" cy="1691640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4800600" y="4901184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5: 'about' + 'exit' via SYS_EXIT syscall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 &amp; Solutions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60120"/>
            <a:ext cx="4114800" cy="868680"/>
          </a:xfrm>
          <a:prstGeom prst="rect">
            <a:avLst/>
          </a:prstGeom>
          <a:solidFill>
            <a:srgbClr val="1A2E42"/>
          </a:solidFill>
          <a:ln w="9525">
            <a:solidFill>
              <a:srgbClr val="1E3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164592" cy="868680"/>
          </a:xfrm>
          <a:prstGeom prst="rect">
            <a:avLst/>
          </a:prstGeom>
          <a:solidFill>
            <a:srgbClr val="FF9100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101498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Curly quotes broke linker.ld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Recreated file with terminal heredoc (cat &lt;&lt; EOF)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965960"/>
            <a:ext cx="4114800" cy="868680"/>
          </a:xfrm>
          <a:prstGeom prst="rect">
            <a:avLst/>
          </a:prstGeom>
          <a:solidFill>
            <a:srgbClr val="1A2E42"/>
          </a:solidFill>
          <a:ln w="9525">
            <a:solidFill>
              <a:srgbClr val="1E3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965960"/>
            <a:ext cx="164592" cy="868680"/>
          </a:xfrm>
          <a:prstGeom prst="rect">
            <a:avLst/>
          </a:prstGeom>
          <a:solidFill>
            <a:srgbClr val="FF9100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202082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GCC generated GOT references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23317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Added -fno-pic -fno-pie flags to CFLAGS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971800"/>
            <a:ext cx="4114800" cy="868680"/>
          </a:xfrm>
          <a:prstGeom prst="rect">
            <a:avLst/>
          </a:prstGeom>
          <a:solidFill>
            <a:srgbClr val="1A2E42"/>
          </a:solidFill>
          <a:ln w="9525">
            <a:solidFill>
              <a:srgbClr val="1E3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971800"/>
            <a:ext cx="164592" cy="868680"/>
          </a:xfrm>
          <a:prstGeom prst="rect">
            <a:avLst/>
          </a:prstGeom>
          <a:solidFill>
            <a:srgbClr val="FF9100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30266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GRUB: invalid ELF magic error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" y="33375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Removed --oformat binary; output proper ELF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977640"/>
            <a:ext cx="4114800" cy="868680"/>
          </a:xfrm>
          <a:prstGeom prst="rect">
            <a:avLst/>
          </a:prstGeom>
          <a:solidFill>
            <a:srgbClr val="1A2E42"/>
          </a:solidFill>
          <a:ln w="9525">
            <a:solidFill>
              <a:srgbClr val="1E3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977640"/>
            <a:ext cx="164592" cy="868680"/>
          </a:xfrm>
          <a:prstGeom prst="rect">
            <a:avLst/>
          </a:prstGeom>
          <a:solidFill>
            <a:srgbClr val="FF9100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40325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IRQ stubs undefined reference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0352" y="43434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Fixed macro: used %1 suffix → irq0-irq15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960120"/>
            <a:ext cx="4114800" cy="868680"/>
          </a:xfrm>
          <a:prstGeom prst="rect">
            <a:avLst/>
          </a:prstGeom>
          <a:solidFill>
            <a:srgbClr val="1A2E42"/>
          </a:solidFill>
          <a:ln w="9525">
            <a:solidFill>
              <a:srgbClr val="1E3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960120"/>
            <a:ext cx="164592" cy="868680"/>
          </a:xfrm>
          <a:prstGeom prst="rect">
            <a:avLst/>
          </a:prstGeom>
          <a:solidFill>
            <a:srgbClr val="FF3D3D"/>
          </a:solidFill>
          <a:ln/>
        </p:spPr>
      </p:sp>
      <p:sp>
        <p:nvSpPr>
          <p:cNvPr id="22" name="Text 20"/>
          <p:cNvSpPr/>
          <p:nvPr/>
        </p:nvSpPr>
        <p:spPr>
          <a:xfrm>
            <a:off x="4965192" y="101498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Scheduler fired only once!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65192" y="13258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Moved EOI BEFORE schedule() — critical fix!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1965960"/>
            <a:ext cx="4114800" cy="868680"/>
          </a:xfrm>
          <a:prstGeom prst="rect">
            <a:avLst/>
          </a:prstGeom>
          <a:solidFill>
            <a:srgbClr val="1A2E42"/>
          </a:solidFill>
          <a:ln w="9525">
            <a:solidFill>
              <a:srgbClr val="1E3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1965960"/>
            <a:ext cx="164592" cy="868680"/>
          </a:xfrm>
          <a:prstGeom prst="rect">
            <a:avLst/>
          </a:prstGeom>
          <a:solidFill>
            <a:srgbClr val="FF9100"/>
          </a:solidFill>
          <a:ln/>
        </p:spPr>
      </p:sp>
      <p:sp>
        <p:nvSpPr>
          <p:cNvPr id="26" name="Text 24"/>
          <p:cNvSpPr/>
          <p:nvPr/>
        </p:nvSpPr>
        <p:spPr>
          <a:xfrm>
            <a:off x="4965192" y="202082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Context switch — tasks exiting immediately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65192" y="23317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mem_set only the stack, not the whole PCB struct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2971800"/>
            <a:ext cx="4114800" cy="868680"/>
          </a:xfrm>
          <a:prstGeom prst="rect">
            <a:avLst/>
          </a:prstGeom>
          <a:solidFill>
            <a:srgbClr val="1A2E42"/>
          </a:solidFill>
          <a:ln w="9525">
            <a:solidFill>
              <a:srgbClr val="1E3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2971800"/>
            <a:ext cx="164592" cy="868680"/>
          </a:xfrm>
          <a:prstGeom prst="rect">
            <a:avLst/>
          </a:prstGeom>
          <a:solidFill>
            <a:srgbClr val="FF9100"/>
          </a:solidFill>
          <a:ln/>
        </p:spPr>
      </p:sp>
      <p:sp>
        <p:nvSpPr>
          <p:cNvPr id="30" name="Text 28"/>
          <p:cNvSpPr/>
          <p:nvPr/>
        </p:nvSpPr>
        <p:spPr>
          <a:xfrm>
            <a:off x="4965192" y="30266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Keyboard not responding in QEMU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65192" y="33375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Added -k en-us flag; click QEMU window for focus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9160" y="3977640"/>
            <a:ext cx="4114800" cy="868680"/>
          </a:xfrm>
          <a:prstGeom prst="rect">
            <a:avLst/>
          </a:prstGeom>
          <a:solidFill>
            <a:srgbClr val="1A2E42"/>
          </a:solidFill>
          <a:ln w="9525">
            <a:solidFill>
              <a:srgbClr val="1E3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3977640"/>
            <a:ext cx="164592" cy="86868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34" name="Text 32"/>
          <p:cNvSpPr/>
          <p:nvPr/>
        </p:nvSpPr>
        <p:spPr>
          <a:xfrm>
            <a:off x="4965192" y="40325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Keyboard CPU busy-wait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65192" y="43434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Implemented TASK_BLOCKED wait queue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— Feature Summary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960120"/>
            <a:ext cx="1600200" cy="3886200"/>
          </a:xfrm>
          <a:prstGeom prst="rect">
            <a:avLst/>
          </a:prstGeom>
          <a:solidFill>
            <a:srgbClr val="1A2E42"/>
          </a:solidFill>
          <a:ln w="9525">
            <a:solidFill>
              <a:srgbClr val="1E3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1600200" cy="914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107899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1325880" cy="640080"/>
          </a:xfrm>
          <a:prstGeom prst="rect">
            <a:avLst/>
          </a:prstGeom>
          <a:solidFill>
            <a:srgbClr val="243447"/>
          </a:solidFill>
          <a:ln w="6350">
            <a:solidFill>
              <a:srgbClr val="1E3A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81912"/>
            <a:ext cx="1325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Multiboot + GRUB boot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1325880" cy="640080"/>
          </a:xfrm>
          <a:prstGeom prst="rect">
            <a:avLst/>
          </a:prstGeom>
          <a:solidFill>
            <a:srgbClr val="243447"/>
          </a:solidFill>
          <a:ln w="6350">
            <a:solidFill>
              <a:srgbClr val="1E3A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359152"/>
            <a:ext cx="1325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VGA text driver 80×25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3063240"/>
            <a:ext cx="1325880" cy="640080"/>
          </a:xfrm>
          <a:prstGeom prst="rect">
            <a:avLst/>
          </a:prstGeom>
          <a:solidFill>
            <a:srgbClr val="243447"/>
          </a:solidFill>
          <a:ln w="6350">
            <a:solidFill>
              <a:srgbClr val="1E3A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136392"/>
            <a:ext cx="1325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linker script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840480"/>
            <a:ext cx="1325880" cy="640080"/>
          </a:xfrm>
          <a:prstGeom prst="rect">
            <a:avLst/>
          </a:prstGeom>
          <a:solidFill>
            <a:srgbClr val="243447"/>
          </a:solidFill>
          <a:ln w="6350">
            <a:solidFill>
              <a:srgbClr val="1E3A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913632"/>
            <a:ext cx="1325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GNU Makefile build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984248" y="960120"/>
            <a:ext cx="1600200" cy="3886200"/>
          </a:xfrm>
          <a:prstGeom prst="rect">
            <a:avLst/>
          </a:prstGeom>
          <a:solidFill>
            <a:srgbClr val="1A2E42"/>
          </a:solidFill>
          <a:ln w="9525">
            <a:solidFill>
              <a:srgbClr val="1E3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984248" y="960120"/>
            <a:ext cx="1600200" cy="914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7" name="Text 15"/>
          <p:cNvSpPr/>
          <p:nvPr/>
        </p:nvSpPr>
        <p:spPr>
          <a:xfrm>
            <a:off x="1984248" y="107899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121408" y="1508760"/>
            <a:ext cx="1325880" cy="640080"/>
          </a:xfrm>
          <a:prstGeom prst="rect">
            <a:avLst/>
          </a:prstGeom>
          <a:solidFill>
            <a:srgbClr val="243447"/>
          </a:solidFill>
          <a:ln w="6350">
            <a:solidFill>
              <a:srgbClr val="1E3A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21408" y="1581912"/>
            <a:ext cx="1325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GDT — flat 32-bit mode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121408" y="2286000"/>
            <a:ext cx="1325880" cy="640080"/>
          </a:xfrm>
          <a:prstGeom prst="rect">
            <a:avLst/>
          </a:prstGeom>
          <a:solidFill>
            <a:srgbClr val="243447"/>
          </a:solidFill>
          <a:ln w="6350">
            <a:solidFill>
              <a:srgbClr val="1E3A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21408" y="2359152"/>
            <a:ext cx="1325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IDT — 256 gate descriptors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121408" y="3063240"/>
            <a:ext cx="1325880" cy="640080"/>
          </a:xfrm>
          <a:prstGeom prst="rect">
            <a:avLst/>
          </a:prstGeom>
          <a:solidFill>
            <a:srgbClr val="243447"/>
          </a:solidFill>
          <a:ln w="6350">
            <a:solidFill>
              <a:srgbClr val="1E3A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21408" y="3136392"/>
            <a:ext cx="1325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8259A PIC remapping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121408" y="3840480"/>
            <a:ext cx="1325880" cy="640080"/>
          </a:xfrm>
          <a:prstGeom prst="rect">
            <a:avLst/>
          </a:prstGeom>
          <a:solidFill>
            <a:srgbClr val="243447"/>
          </a:solidFill>
          <a:ln w="6350">
            <a:solidFill>
              <a:srgbClr val="1E3A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21408" y="3913632"/>
            <a:ext cx="1325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Hz timer + keyboard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739896" y="960120"/>
            <a:ext cx="1600200" cy="3886200"/>
          </a:xfrm>
          <a:prstGeom prst="rect">
            <a:avLst/>
          </a:prstGeom>
          <a:solidFill>
            <a:srgbClr val="1A2E42"/>
          </a:solidFill>
          <a:ln w="9525">
            <a:solidFill>
              <a:srgbClr val="1E3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739896" y="960120"/>
            <a:ext cx="1600200" cy="914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8" name="Text 26"/>
          <p:cNvSpPr/>
          <p:nvPr/>
        </p:nvSpPr>
        <p:spPr>
          <a:xfrm>
            <a:off x="3739896" y="107899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877056" y="1508760"/>
            <a:ext cx="1325880" cy="640080"/>
          </a:xfrm>
          <a:prstGeom prst="rect">
            <a:avLst/>
          </a:prstGeom>
          <a:solidFill>
            <a:srgbClr val="243447"/>
          </a:solidFill>
          <a:ln w="6350">
            <a:solidFill>
              <a:srgbClr val="1E3A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77056" y="1581912"/>
            <a:ext cx="1325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+ task_create()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877056" y="2286000"/>
            <a:ext cx="1325880" cy="640080"/>
          </a:xfrm>
          <a:prstGeom prst="rect">
            <a:avLst/>
          </a:prstGeom>
          <a:solidFill>
            <a:srgbClr val="243447"/>
          </a:solidFill>
          <a:ln w="6350">
            <a:solidFill>
              <a:srgbClr val="1E3A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77056" y="2359152"/>
            <a:ext cx="1325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do_switch() in ASM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877056" y="3063240"/>
            <a:ext cx="1325880" cy="640080"/>
          </a:xfrm>
          <a:prstGeom prst="rect">
            <a:avLst/>
          </a:prstGeom>
          <a:solidFill>
            <a:srgbClr val="243447"/>
          </a:solidFill>
          <a:ln w="6350">
            <a:solidFill>
              <a:srgbClr val="1E3A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77056" y="3136392"/>
            <a:ext cx="1325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Preemptive round-robin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877056" y="3840480"/>
            <a:ext cx="1325880" cy="640080"/>
          </a:xfrm>
          <a:prstGeom prst="rect">
            <a:avLst/>
          </a:prstGeom>
          <a:solidFill>
            <a:srgbClr val="243447"/>
          </a:solidFill>
          <a:ln w="6350">
            <a:solidFill>
              <a:srgbClr val="1E3A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77056" y="3913632"/>
            <a:ext cx="1325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2-task alternation ✓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95544" y="960120"/>
            <a:ext cx="1600200" cy="3886200"/>
          </a:xfrm>
          <a:prstGeom prst="rect">
            <a:avLst/>
          </a:prstGeom>
          <a:solidFill>
            <a:srgbClr val="1A2E42"/>
          </a:solidFill>
          <a:ln w="9525">
            <a:solidFill>
              <a:srgbClr val="1E3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495544" y="960120"/>
            <a:ext cx="1600200" cy="914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9" name="Text 37"/>
          <p:cNvSpPr/>
          <p:nvPr/>
        </p:nvSpPr>
        <p:spPr>
          <a:xfrm>
            <a:off x="5495544" y="107899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632704" y="1508760"/>
            <a:ext cx="1325880" cy="640080"/>
          </a:xfrm>
          <a:prstGeom prst="rect">
            <a:avLst/>
          </a:prstGeom>
          <a:solidFill>
            <a:srgbClr val="243447"/>
          </a:solidFill>
          <a:ln w="6350">
            <a:solidFill>
              <a:srgbClr val="1E3A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32704" y="1581912"/>
            <a:ext cx="1325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0x80 syscall ABI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632704" y="2286000"/>
            <a:ext cx="1325880" cy="640080"/>
          </a:xfrm>
          <a:prstGeom prst="rect">
            <a:avLst/>
          </a:prstGeom>
          <a:solidFill>
            <a:srgbClr val="243447"/>
          </a:solidFill>
          <a:ln w="6350">
            <a:solidFill>
              <a:srgbClr val="1E3A5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32704" y="2359152"/>
            <a:ext cx="1325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SYS_WRITE/SPAWN/EXIT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632704" y="3063240"/>
            <a:ext cx="1325880" cy="640080"/>
          </a:xfrm>
          <a:prstGeom prst="rect">
            <a:avLst/>
          </a:prstGeom>
          <a:solidFill>
            <a:srgbClr val="243447"/>
          </a:solidFill>
          <a:ln w="6350">
            <a:solidFill>
              <a:srgbClr val="1E3A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32704" y="3136392"/>
            <a:ext cx="1325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shell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632704" y="3840480"/>
            <a:ext cx="1325880" cy="640080"/>
          </a:xfrm>
          <a:prstGeom prst="rect">
            <a:avLst/>
          </a:prstGeom>
          <a:solidFill>
            <a:srgbClr val="243447"/>
          </a:solidFill>
          <a:ln w="6350">
            <a:solidFill>
              <a:srgbClr val="1E3A5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32704" y="3913632"/>
            <a:ext cx="1325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built-in commands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251192" y="960120"/>
            <a:ext cx="1600200" cy="3886200"/>
          </a:xfrm>
          <a:prstGeom prst="rect">
            <a:avLst/>
          </a:prstGeom>
          <a:solidFill>
            <a:srgbClr val="1A2B0F"/>
          </a:solidFill>
          <a:ln w="9525">
            <a:solidFill>
              <a:srgbClr val="1E3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7251192" y="960120"/>
            <a:ext cx="1600200" cy="9144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50" name="Text 48"/>
          <p:cNvSpPr/>
          <p:nvPr/>
        </p:nvSpPr>
        <p:spPr>
          <a:xfrm>
            <a:off x="7251192" y="107899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Extras ★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7388352" y="1508760"/>
            <a:ext cx="1325880" cy="640080"/>
          </a:xfrm>
          <a:prstGeom prst="rect">
            <a:avLst/>
          </a:prstGeom>
          <a:solidFill>
            <a:srgbClr val="223320"/>
          </a:solidFill>
          <a:ln w="6350">
            <a:solidFill>
              <a:srgbClr val="2A402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388352" y="1581912"/>
            <a:ext cx="1325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F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as kernel task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388352" y="2286000"/>
            <a:ext cx="1325880" cy="640080"/>
          </a:xfrm>
          <a:prstGeom prst="rect">
            <a:avLst/>
          </a:prstGeom>
          <a:solidFill>
            <a:srgbClr val="223320"/>
          </a:solidFill>
          <a:ln w="6350">
            <a:solidFill>
              <a:srgbClr val="2A402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88352" y="2359152"/>
            <a:ext cx="1325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F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slot reclamation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388352" y="3063240"/>
            <a:ext cx="1325880" cy="640080"/>
          </a:xfrm>
          <a:prstGeom prst="rect">
            <a:avLst/>
          </a:prstGeom>
          <a:solidFill>
            <a:srgbClr val="223320"/>
          </a:solidFill>
          <a:ln w="6350">
            <a:solidFill>
              <a:srgbClr val="2A402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388352" y="3136392"/>
            <a:ext cx="1325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F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wait queue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388352" y="3840480"/>
            <a:ext cx="1325880" cy="640080"/>
          </a:xfrm>
          <a:prstGeom prst="rect">
            <a:avLst/>
          </a:prstGeom>
          <a:solidFill>
            <a:srgbClr val="223320"/>
          </a:solidFill>
          <a:ln w="6350">
            <a:solidFill>
              <a:srgbClr val="2A402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388352" y="3913632"/>
            <a:ext cx="1325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F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TASK_BLOCKED state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91440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minimum required features complete  ✓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005840"/>
            <a:ext cx="5486400" cy="804672"/>
          </a:xfrm>
          <a:prstGeom prst="rect">
            <a:avLst/>
          </a:prstGeom>
          <a:solidFill>
            <a:srgbClr val="1A2E42"/>
          </a:solidFill>
          <a:ln w="9525">
            <a:solidFill>
              <a:srgbClr val="1E3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438912" cy="43891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887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1060704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40817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run  →  GRUB menu  →  kernel banner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965960"/>
            <a:ext cx="5486400" cy="804672"/>
          </a:xfrm>
          <a:prstGeom prst="rect">
            <a:avLst/>
          </a:prstGeom>
          <a:solidFill>
            <a:srgbClr val="1A2E42"/>
          </a:solidFill>
          <a:ln w="9525">
            <a:solidFill>
              <a:srgbClr val="1E3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148840"/>
            <a:ext cx="438912" cy="438912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148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60120" y="2020824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236829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ticks  +  type on keyboard = echo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5486400" cy="804672"/>
          </a:xfrm>
          <a:prstGeom prst="rect">
            <a:avLst/>
          </a:prstGeom>
          <a:solidFill>
            <a:srgbClr val="1A2E42"/>
          </a:solidFill>
          <a:ln w="9525">
            <a:solidFill>
              <a:srgbClr val="1E3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108960"/>
            <a:ext cx="438912" cy="438912"/>
          </a:xfrm>
          <a:prstGeom prst="ellipse">
            <a:avLst/>
          </a:prstGeom>
          <a:solidFill>
            <a:srgbClr val="00E676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108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60120" y="2980944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32841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tasks A &amp; B alternating on screen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886200"/>
            <a:ext cx="5486400" cy="804672"/>
          </a:xfrm>
          <a:prstGeom prst="rect">
            <a:avLst/>
          </a:prstGeom>
          <a:solidFill>
            <a:srgbClr val="1A2E42"/>
          </a:solidFill>
          <a:ln w="9525">
            <a:solidFill>
              <a:srgbClr val="1E3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4069080"/>
            <a:ext cx="438912" cy="438912"/>
          </a:xfrm>
          <a:prstGeom prst="ellipse">
            <a:avLst/>
          </a:prstGeom>
          <a:solidFill>
            <a:srgbClr val="FF9100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069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60120" y="3941064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0120" y="428853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'help'  'tasks'  'about'  'spawn'  'exit'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4773168"/>
            <a:ext cx="5486400" cy="274320"/>
          </a:xfrm>
          <a:prstGeom prst="rect">
            <a:avLst/>
          </a:prstGeom>
          <a:solidFill>
            <a:srgbClr val="243447"/>
          </a:solidFill>
          <a:ln w="9525">
            <a:solidFill>
              <a:srgbClr val="1E3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65760" y="479145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Terminal: 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43000" y="4791456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clean &amp;&amp; make &amp;&amp; make run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989320" y="1005840"/>
            <a:ext cx="2880360" cy="2560320"/>
          </a:xfrm>
          <a:prstGeom prst="rect">
            <a:avLst/>
          </a:prstGeom>
          <a:solidFill>
            <a:srgbClr val="1A2E42"/>
          </a:solidFill>
          <a:ln w="9525">
            <a:solidFill>
              <a:srgbClr val="1E3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126480" y="107899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126480" y="14630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95160" y="14630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DD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26480" y="181051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95160" y="18105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DD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Base-Metal-OS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26480" y="215798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Branch: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95160" y="215798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DD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26480" y="250545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Build: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95160" y="250545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DD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126480" y="28529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995160" y="285292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DD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run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126480" y="32004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Debug: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995160" y="32004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DD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debug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989320" y="3703320"/>
            <a:ext cx="2880360" cy="1371600"/>
          </a:xfrm>
          <a:prstGeom prst="rect">
            <a:avLst/>
          </a:prstGeom>
          <a:solidFill>
            <a:srgbClr val="1A2E42"/>
          </a:solidFill>
          <a:ln w="9525">
            <a:solidFill>
              <a:srgbClr val="1E3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126480" y="376732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144768" y="4187952"/>
            <a:ext cx="109728" cy="109728"/>
          </a:xfrm>
          <a:prstGeom prst="ellipse">
            <a:avLst/>
          </a:prstGeom>
          <a:solidFill>
            <a:srgbClr val="00E676"/>
          </a:solidFill>
          <a:ln/>
        </p:spPr>
      </p:sp>
      <p:sp>
        <p:nvSpPr>
          <p:cNvPr id="44" name="Text 42"/>
          <p:cNvSpPr/>
          <p:nvPr/>
        </p:nvSpPr>
        <p:spPr>
          <a:xfrm>
            <a:off x="6327648" y="4133088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repo + README.md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144768" y="4443984"/>
            <a:ext cx="109728" cy="109728"/>
          </a:xfrm>
          <a:prstGeom prst="ellipse">
            <a:avLst/>
          </a:prstGeom>
          <a:solidFill>
            <a:srgbClr val="00E676"/>
          </a:solidFill>
          <a:ln/>
        </p:spPr>
      </p:sp>
      <p:sp>
        <p:nvSpPr>
          <p:cNvPr id="46" name="Text 44"/>
          <p:cNvSpPr/>
          <p:nvPr/>
        </p:nvSpPr>
        <p:spPr>
          <a:xfrm>
            <a:off x="6327648" y="4389120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report (APA 7)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144768" y="4700016"/>
            <a:ext cx="109728" cy="109728"/>
          </a:xfrm>
          <a:prstGeom prst="ellipse">
            <a:avLst/>
          </a:prstGeom>
          <a:solidFill>
            <a:srgbClr val="00E676"/>
          </a:solidFill>
          <a:ln/>
        </p:spPr>
      </p:sp>
      <p:sp>
        <p:nvSpPr>
          <p:cNvPr id="48" name="Text 46"/>
          <p:cNvSpPr/>
          <p:nvPr/>
        </p:nvSpPr>
        <p:spPr>
          <a:xfrm>
            <a:off x="6327648" y="4645152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144768" y="4956048"/>
            <a:ext cx="109728" cy="109728"/>
          </a:xfrm>
          <a:prstGeom prst="ellipse">
            <a:avLst/>
          </a:prstGeom>
          <a:solidFill>
            <a:srgbClr val="00E676"/>
          </a:solidFill>
          <a:ln/>
        </p:spPr>
      </p:sp>
      <p:sp>
        <p:nvSpPr>
          <p:cNvPr id="50" name="Text 48"/>
          <p:cNvSpPr/>
          <p:nvPr/>
        </p:nvSpPr>
        <p:spPr>
          <a:xfrm>
            <a:off x="6327648" y="4901184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(5-8 min)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1280160" y="100584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4" name="Shape 2"/>
          <p:cNvSpPr/>
          <p:nvPr/>
        </p:nvSpPr>
        <p:spPr>
          <a:xfrm>
            <a:off x="1280160" y="201168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5" name="Shape 3"/>
          <p:cNvSpPr/>
          <p:nvPr/>
        </p:nvSpPr>
        <p:spPr>
          <a:xfrm>
            <a:off x="1280160" y="301752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6" name="Shape 4"/>
          <p:cNvSpPr/>
          <p:nvPr/>
        </p:nvSpPr>
        <p:spPr>
          <a:xfrm>
            <a:off x="1280160" y="402336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7" name="Shape 5"/>
          <p:cNvSpPr/>
          <p:nvPr/>
        </p:nvSpPr>
        <p:spPr>
          <a:xfrm>
            <a:off x="2103120" y="100584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8" name="Shape 6"/>
          <p:cNvSpPr/>
          <p:nvPr/>
        </p:nvSpPr>
        <p:spPr>
          <a:xfrm>
            <a:off x="2103120" y="201168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9" name="Shape 7"/>
          <p:cNvSpPr/>
          <p:nvPr/>
        </p:nvSpPr>
        <p:spPr>
          <a:xfrm>
            <a:off x="2103120" y="301752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10" name="Shape 8"/>
          <p:cNvSpPr/>
          <p:nvPr/>
        </p:nvSpPr>
        <p:spPr>
          <a:xfrm>
            <a:off x="2103120" y="402336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11" name="Shape 9"/>
          <p:cNvSpPr/>
          <p:nvPr/>
        </p:nvSpPr>
        <p:spPr>
          <a:xfrm>
            <a:off x="2926080" y="100584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12" name="Shape 10"/>
          <p:cNvSpPr/>
          <p:nvPr/>
        </p:nvSpPr>
        <p:spPr>
          <a:xfrm>
            <a:off x="2926080" y="201168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13" name="Shape 11"/>
          <p:cNvSpPr/>
          <p:nvPr/>
        </p:nvSpPr>
        <p:spPr>
          <a:xfrm>
            <a:off x="2926080" y="301752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14" name="Shape 12"/>
          <p:cNvSpPr/>
          <p:nvPr/>
        </p:nvSpPr>
        <p:spPr>
          <a:xfrm>
            <a:off x="2926080" y="402336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15" name="Shape 13"/>
          <p:cNvSpPr/>
          <p:nvPr/>
        </p:nvSpPr>
        <p:spPr>
          <a:xfrm>
            <a:off x="3749040" y="100584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16" name="Shape 14"/>
          <p:cNvSpPr/>
          <p:nvPr/>
        </p:nvSpPr>
        <p:spPr>
          <a:xfrm>
            <a:off x="3749040" y="201168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17" name="Shape 15"/>
          <p:cNvSpPr/>
          <p:nvPr/>
        </p:nvSpPr>
        <p:spPr>
          <a:xfrm>
            <a:off x="3749040" y="301752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18" name="Shape 16"/>
          <p:cNvSpPr/>
          <p:nvPr/>
        </p:nvSpPr>
        <p:spPr>
          <a:xfrm>
            <a:off x="3749040" y="402336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0" y="100584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0" y="201168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0" y="301752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0" y="402336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23" name="Shape 21"/>
          <p:cNvSpPr/>
          <p:nvPr/>
        </p:nvSpPr>
        <p:spPr>
          <a:xfrm>
            <a:off x="5394960" y="100584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24" name="Shape 22"/>
          <p:cNvSpPr/>
          <p:nvPr/>
        </p:nvSpPr>
        <p:spPr>
          <a:xfrm>
            <a:off x="5394960" y="201168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25" name="Shape 23"/>
          <p:cNvSpPr/>
          <p:nvPr/>
        </p:nvSpPr>
        <p:spPr>
          <a:xfrm>
            <a:off x="5394960" y="301752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26" name="Shape 24"/>
          <p:cNvSpPr/>
          <p:nvPr/>
        </p:nvSpPr>
        <p:spPr>
          <a:xfrm>
            <a:off x="5394960" y="402336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27" name="Shape 25"/>
          <p:cNvSpPr/>
          <p:nvPr/>
        </p:nvSpPr>
        <p:spPr>
          <a:xfrm>
            <a:off x="6217920" y="100584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28" name="Shape 26"/>
          <p:cNvSpPr/>
          <p:nvPr/>
        </p:nvSpPr>
        <p:spPr>
          <a:xfrm>
            <a:off x="6217920" y="201168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29" name="Shape 27"/>
          <p:cNvSpPr/>
          <p:nvPr/>
        </p:nvSpPr>
        <p:spPr>
          <a:xfrm>
            <a:off x="6217920" y="301752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30" name="Shape 28"/>
          <p:cNvSpPr/>
          <p:nvPr/>
        </p:nvSpPr>
        <p:spPr>
          <a:xfrm>
            <a:off x="6217920" y="402336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31" name="Shape 29"/>
          <p:cNvSpPr/>
          <p:nvPr/>
        </p:nvSpPr>
        <p:spPr>
          <a:xfrm>
            <a:off x="7040880" y="100584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32" name="Shape 30"/>
          <p:cNvSpPr/>
          <p:nvPr/>
        </p:nvSpPr>
        <p:spPr>
          <a:xfrm>
            <a:off x="7040880" y="201168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33" name="Shape 31"/>
          <p:cNvSpPr/>
          <p:nvPr/>
        </p:nvSpPr>
        <p:spPr>
          <a:xfrm>
            <a:off x="7040880" y="301752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34" name="Shape 32"/>
          <p:cNvSpPr/>
          <p:nvPr/>
        </p:nvSpPr>
        <p:spPr>
          <a:xfrm>
            <a:off x="7040880" y="402336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35" name="Shape 33"/>
          <p:cNvSpPr/>
          <p:nvPr/>
        </p:nvSpPr>
        <p:spPr>
          <a:xfrm>
            <a:off x="7863840" y="100584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36" name="Shape 34"/>
          <p:cNvSpPr/>
          <p:nvPr/>
        </p:nvSpPr>
        <p:spPr>
          <a:xfrm>
            <a:off x="7863840" y="201168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37" name="Shape 35"/>
          <p:cNvSpPr/>
          <p:nvPr/>
        </p:nvSpPr>
        <p:spPr>
          <a:xfrm>
            <a:off x="7863840" y="301752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38" name="Shape 36"/>
          <p:cNvSpPr/>
          <p:nvPr/>
        </p:nvSpPr>
        <p:spPr>
          <a:xfrm>
            <a:off x="7863840" y="4023360"/>
            <a:ext cx="36576" cy="36576"/>
          </a:xfrm>
          <a:prstGeom prst="ellipse">
            <a:avLst/>
          </a:prstGeom>
          <a:solidFill>
            <a:srgbClr val="1E3A50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64008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kern="0" spc="4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40" name="Text 38"/>
          <p:cNvSpPr/>
          <p:nvPr/>
        </p:nvSpPr>
        <p:spPr>
          <a:xfrm>
            <a:off x="640080" y="1691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640080" y="2286000"/>
            <a:ext cx="41148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" y="24231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 Ndoka  &amp;  Promise Harare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40080" y="281635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ELE-OPS-411: Operating Systems for Engineers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40080" y="31546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MUBAS — School of Engineering  |  April 2026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217920" y="457200"/>
            <a:ext cx="2651760" cy="4389120"/>
          </a:xfrm>
          <a:prstGeom prst="rect">
            <a:avLst/>
          </a:prstGeom>
          <a:solidFill>
            <a:srgbClr val="1A2E42"/>
          </a:solidFill>
          <a:ln w="9525">
            <a:solidFill>
              <a:srgbClr val="1E3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355080" y="548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Built: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6355080" y="960120"/>
            <a:ext cx="2377440" cy="475488"/>
          </a:xfrm>
          <a:prstGeom prst="rect">
            <a:avLst/>
          </a:prstGeom>
          <a:solidFill>
            <a:srgbClr val="243447"/>
          </a:solidFill>
          <a:ln w="15240">
            <a:solidFill>
              <a:srgbClr val="00D4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73368" y="978408"/>
            <a:ext cx="2926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FF"/>
                </a:solidFill>
              </a:rPr>
              <a:t>✓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675120" y="996696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+ VGA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675120" y="120700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355080" y="1527048"/>
            <a:ext cx="2377440" cy="475488"/>
          </a:xfrm>
          <a:prstGeom prst="rect">
            <a:avLst/>
          </a:prstGeom>
          <a:solidFill>
            <a:srgbClr val="243447"/>
          </a:solidFill>
          <a:ln w="15240">
            <a:solidFill>
              <a:srgbClr val="00A8C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73368" y="1545336"/>
            <a:ext cx="2926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8CC"/>
                </a:solidFill>
              </a:rPr>
              <a:t>✓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6675120" y="1563624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GDT/IDT/PIC/IRQ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675120" y="1773936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355080" y="2093976"/>
            <a:ext cx="2377440" cy="475488"/>
          </a:xfrm>
          <a:prstGeom prst="rect">
            <a:avLst/>
          </a:prstGeom>
          <a:solidFill>
            <a:srgbClr val="243447"/>
          </a:solidFill>
          <a:ln w="15240">
            <a:solidFill>
              <a:srgbClr val="00E67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73368" y="2112264"/>
            <a:ext cx="2926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676"/>
                </a:solidFill>
              </a:rPr>
              <a:t>✓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6675120" y="2130552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675120" y="234086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355080" y="2660904"/>
            <a:ext cx="2377440" cy="475488"/>
          </a:xfrm>
          <a:prstGeom prst="rect">
            <a:avLst/>
          </a:prstGeom>
          <a:solidFill>
            <a:srgbClr val="243447"/>
          </a:solidFill>
          <a:ln w="15240">
            <a:solidFill>
              <a:srgbClr val="FF91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73368" y="2679192"/>
            <a:ext cx="2926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9100"/>
                </a:solidFill>
              </a:rPr>
              <a:t>✓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6675120" y="269748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Syscalls + Shell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675120" y="290779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355080" y="3227832"/>
            <a:ext cx="2377440" cy="475488"/>
          </a:xfrm>
          <a:prstGeom prst="rect">
            <a:avLst/>
          </a:prstGeom>
          <a:solidFill>
            <a:srgbClr val="243447"/>
          </a:solidFill>
          <a:ln w="15240">
            <a:solidFill>
              <a:srgbClr val="00E67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73368" y="3246120"/>
            <a:ext cx="2926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676"/>
                </a:solidFill>
              </a:rPr>
              <a:t>✓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6675120" y="3264408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I/O ★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6675120" y="3474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355080" y="3794760"/>
            <a:ext cx="2377440" cy="475488"/>
          </a:xfrm>
          <a:prstGeom prst="rect">
            <a:avLst/>
          </a:prstGeom>
          <a:solidFill>
            <a:srgbClr val="243447"/>
          </a:solidFill>
          <a:ln w="15240">
            <a:solidFill>
              <a:srgbClr val="00E67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373368" y="3813048"/>
            <a:ext cx="2926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676"/>
                </a:solidFill>
              </a:rPr>
              <a:t>✓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6675120" y="3831336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slot GC ★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6675120" y="404164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40080" y="44805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"Built from scratch — one interrupt at a time"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1092</Words>
  <Application>Microsoft Office PowerPoint</Application>
  <PresentationFormat>On-screen Show (16:9)</PresentationFormat>
  <Paragraphs>240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MyOS — Bare-Metal OS Kernel</dc:title>
  <dc:subject>PptxGenJS Presentation</dc:subject>
  <dc:creator>Isaac Ndoka &amp; Promise Harare</dc:creator>
  <cp:lastModifiedBy>User</cp:lastModifiedBy>
  <cp:revision>2</cp:revision>
  <dcterms:created xsi:type="dcterms:W3CDTF">2026-04-23T19:28:23Z</dcterms:created>
  <dcterms:modified xsi:type="dcterms:W3CDTF">2026-04-24T18:40:25Z</dcterms:modified>
</cp:coreProperties>
</file>